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08b1f8a1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b08b1f8a1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0b16d1193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0b16d1193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b0b16d1193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b0b16d1193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b0b16d1193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b0b16d1193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b0b16d1193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b0b16d1193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b0b16d1193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b0b16d1193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b0b16d1193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b0b16d1193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b0b16d1193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b0b16d1193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b0b16d1193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b0b16d1193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b0b16d1193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b0b16d1193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b0b16d1193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b0b16d1193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0b16d1193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b0b16d1193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3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jpg"/><Relationship Id="rId4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jpg"/><Relationship Id="rId4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://drive.google.com/file/d/1jzBFANR2zC_TJtoGxGiQ31gnNMeAQRvr/view" TargetMode="External"/><Relationship Id="rId4" Type="http://schemas.openxmlformats.org/officeDocument/2006/relationships/image" Target="../media/image1.png"/><Relationship Id="rId5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://digilent.com/" TargetMode="External"/><Relationship Id="rId4" Type="http://schemas.openxmlformats.org/officeDocument/2006/relationships/hyperlink" Target="http://www.microchip.com/en-us/about/corporate-overview/acquisitions/atmel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435450" y="348625"/>
            <a:ext cx="8273100" cy="23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4880" u="sng">
                <a:solidFill>
                  <a:srgbClr val="CCCCCC"/>
                </a:solidFill>
                <a:latin typeface="Georgia"/>
                <a:ea typeface="Georgia"/>
                <a:cs typeface="Georgia"/>
                <a:sym typeface="Georgia"/>
              </a:rPr>
              <a:t>Motion Awareness Study Timer/Rotating Circuit Blinking-LED Core</a:t>
            </a:r>
            <a:endParaRPr b="1" sz="4880" u="sng">
              <a:solidFill>
                <a:srgbClr val="CCCCCC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069150" y="3105226"/>
            <a:ext cx="30057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 sz="3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David Edeni</a:t>
            </a:r>
            <a:endParaRPr sz="30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 rotWithShape="1">
          <a:blip r:embed="rId3">
            <a:alphaModFix/>
          </a:blip>
          <a:srcRect b="7731" l="3890" r="4358" t="6357"/>
          <a:stretch/>
        </p:blipFill>
        <p:spPr>
          <a:xfrm>
            <a:off x="549975" y="2874525"/>
            <a:ext cx="2423185" cy="2268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 rotWithShape="1">
          <a:blip r:embed="rId4">
            <a:alphaModFix/>
          </a:blip>
          <a:srcRect b="33147" l="4640" r="5082" t="31249"/>
          <a:stretch/>
        </p:blipFill>
        <p:spPr>
          <a:xfrm>
            <a:off x="5882825" y="3857350"/>
            <a:ext cx="3261176" cy="1286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224650"/>
            <a:ext cx="8520600" cy="7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 u="sng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My Original </a:t>
            </a:r>
            <a:r>
              <a:rPr lang="en" sz="3220" u="sng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Plan:</a:t>
            </a:r>
            <a:endParaRPr sz="3220" u="sng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875327"/>
            <a:ext cx="8520600" cy="39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rPr>
              <a:t>Building a </a:t>
            </a:r>
            <a:r>
              <a:rPr b="1" lang="en" sz="2000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rPr>
              <a:t>Motion-Aware Study Timer</a:t>
            </a:r>
            <a:endParaRPr b="1" sz="2000">
              <a:solidFill>
                <a:schemeClr val="lt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rPr>
              <a:t>Motion Aware Study Timer:</a:t>
            </a:r>
            <a:r>
              <a:rPr lang="en" sz="2000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rPr>
              <a:t> FPGA Study Timer that tracks focused study time using motion detection. This timer pauses when motion is detected and displays focused timed on the Nexys DDR-4’s seven-segment display and over a UART </a:t>
            </a:r>
            <a:r>
              <a:rPr lang="en" sz="2000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rPr>
              <a:t>interface</a:t>
            </a:r>
            <a:r>
              <a:rPr lang="en" sz="2000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rPr>
              <a:t> such as PUTTY.</a:t>
            </a:r>
            <a:endParaRPr sz="2000">
              <a:solidFill>
                <a:schemeClr val="lt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rPr>
              <a:t>Project Goal:</a:t>
            </a:r>
            <a:r>
              <a:rPr lang="en" sz="2000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rPr>
              <a:t> Display FPGA sensor interfacing, </a:t>
            </a:r>
            <a:r>
              <a:rPr lang="en" sz="2000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rPr>
              <a:t>fixed</a:t>
            </a:r>
            <a:r>
              <a:rPr lang="en" sz="2000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rPr>
              <a:t>-point motion processing, timing logic, module control, and UART communication.</a:t>
            </a:r>
            <a:endParaRPr sz="2000">
              <a:solidFill>
                <a:schemeClr val="lt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rPr>
              <a:t>Required Hardware:</a:t>
            </a:r>
            <a:r>
              <a:rPr lang="en" sz="2000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rPr>
              <a:t> Nexys DDR-4 FPGA Board, IMU via I2C or SPI, seven-segment display, USB-UART connection, and optional pushbuttons.</a:t>
            </a:r>
            <a:endParaRPr sz="2000">
              <a:solidFill>
                <a:schemeClr val="lt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rPr>
              <a:t>Required Software:</a:t>
            </a:r>
            <a:r>
              <a:rPr lang="en" sz="2000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rPr>
              <a:t> Vivado and Vitis</a:t>
            </a:r>
            <a:endParaRPr sz="2000">
              <a:solidFill>
                <a:schemeClr val="lt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224650"/>
            <a:ext cx="8520600" cy="6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720" u="sng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Motion Awareness Study Timer System Architecture</a:t>
            </a:r>
            <a:endParaRPr sz="2720" u="sng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774625"/>
            <a:ext cx="8520600" cy="41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rPr>
              <a:t>IMU Interface -&gt; Motion Filter Processing -&gt; Focus Timer Logic -&gt; Seven-Segment Display -&gt; UART Logging</a:t>
            </a:r>
            <a:endParaRPr b="1" sz="1600">
              <a:solidFill>
                <a:schemeClr val="lt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lt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6562" y="1437875"/>
            <a:ext cx="6830874" cy="3705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224650"/>
            <a:ext cx="8520600" cy="7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 u="sng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IMU Interface:</a:t>
            </a:r>
            <a:endParaRPr sz="3220" u="sng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852089"/>
            <a:ext cx="8520600" cy="410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rPr>
              <a:t>Implementation</a:t>
            </a:r>
            <a:r>
              <a:rPr lang="en" sz="2000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rPr>
              <a:t> I2C/SPI </a:t>
            </a:r>
            <a:r>
              <a:rPr lang="en" sz="2000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rPr>
              <a:t>protocol</a:t>
            </a:r>
            <a:r>
              <a:rPr lang="en" sz="2000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rPr>
              <a:t> via Verilog modules.</a:t>
            </a:r>
            <a:endParaRPr b="1" sz="2000">
              <a:solidFill>
                <a:schemeClr val="lt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rPr>
              <a:t>The modules configure</a:t>
            </a:r>
            <a:r>
              <a:rPr lang="en" sz="2000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rPr>
              <a:t> sensor registers; r</a:t>
            </a:r>
            <a:r>
              <a:rPr lang="en" sz="2000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rPr>
              <a:t>ead X, Y, and Z acceleration detected from board peripherals; and o</a:t>
            </a:r>
            <a:r>
              <a:rPr lang="en" sz="2000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rPr>
              <a:t>utput signed fixed-point data.</a:t>
            </a:r>
            <a:endParaRPr sz="2000">
              <a:solidFill>
                <a:schemeClr val="lt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73863" y="2148275"/>
            <a:ext cx="4196275" cy="2995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224650"/>
            <a:ext cx="8520600" cy="7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 u="sng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Motion Filter Processing:</a:t>
            </a:r>
            <a:endParaRPr sz="3220" u="sng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906300"/>
            <a:ext cx="8520600" cy="402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rPr>
              <a:t>The process of computeting acceleration magnitude, RMS (root mean-squared), or other distance measurement values.</a:t>
            </a:r>
            <a:endParaRPr b="1" sz="2000">
              <a:solidFill>
                <a:schemeClr val="lt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rPr>
              <a:t>Read movement from board </a:t>
            </a:r>
            <a:endParaRPr sz="2000">
              <a:solidFill>
                <a:schemeClr val="lt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rPr>
              <a:t>sensors are filtered and </a:t>
            </a:r>
            <a:r>
              <a:rPr lang="en" sz="2000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rPr>
              <a:t>compared</a:t>
            </a:r>
            <a:endParaRPr sz="2000">
              <a:solidFill>
                <a:schemeClr val="lt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rPr>
              <a:t>against a threshold.</a:t>
            </a:r>
            <a:endParaRPr sz="2000">
              <a:solidFill>
                <a:schemeClr val="lt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rPr>
              <a:t>The sensors return still/moving </a:t>
            </a:r>
            <a:endParaRPr sz="2000">
              <a:solidFill>
                <a:schemeClr val="lt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rPr>
              <a:t>signal that is interpreted by the board.</a:t>
            </a:r>
            <a:endParaRPr sz="2000">
              <a:solidFill>
                <a:schemeClr val="lt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  <p:pic>
        <p:nvPicPr>
          <p:cNvPr id="84" name="Google Shape;8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24175" y="1804925"/>
            <a:ext cx="4172625" cy="312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224650"/>
            <a:ext cx="8520600" cy="7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 u="sng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Focus Timer Logic</a:t>
            </a:r>
            <a:r>
              <a:rPr lang="en" sz="3220" u="sng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:</a:t>
            </a:r>
            <a:endParaRPr sz="3220" u="sng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945050"/>
            <a:ext cx="8520600" cy="398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rPr>
              <a:t>Counts total elapsed time.</a:t>
            </a:r>
            <a:endParaRPr sz="2000">
              <a:solidFill>
                <a:schemeClr val="lt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rPr>
              <a:t>Counts focused time when still.</a:t>
            </a:r>
            <a:endParaRPr sz="2000">
              <a:solidFill>
                <a:schemeClr val="lt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rPr>
              <a:t>Generates one-second tick.</a:t>
            </a:r>
            <a:endParaRPr sz="2000">
              <a:solidFill>
                <a:schemeClr val="lt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rPr>
              <a:t>Computes focus percentage.</a:t>
            </a:r>
            <a:endParaRPr sz="2000">
              <a:solidFill>
                <a:schemeClr val="lt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  <p:pic>
        <p:nvPicPr>
          <p:cNvPr id="91" name="Google Shape;9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25" y="2188625"/>
            <a:ext cx="4782875" cy="2954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224650"/>
            <a:ext cx="8520600" cy="7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 u="sng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DDR4 FPGA Seven-Segment Display:</a:t>
            </a:r>
            <a:endParaRPr sz="3220" u="sng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311700" y="1017850"/>
            <a:ext cx="8520600" cy="391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rPr>
              <a:t>Displays focused minutes.</a:t>
            </a:r>
            <a:endParaRPr sz="2000">
              <a:solidFill>
                <a:schemeClr val="lt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rPr>
              <a:t>Performs digit multiplexing.</a:t>
            </a:r>
            <a:endParaRPr sz="2000">
              <a:solidFill>
                <a:schemeClr val="lt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rPr>
              <a:t>Implements segment decoding logic.</a:t>
            </a:r>
            <a:endParaRPr sz="2000">
              <a:solidFill>
                <a:schemeClr val="lt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  <p:pic>
        <p:nvPicPr>
          <p:cNvPr id="98" name="Google Shape;9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9475" y="1088681"/>
            <a:ext cx="4319075" cy="2966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311700" y="224650"/>
            <a:ext cx="8520600" cy="7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 u="sng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UART Logging:</a:t>
            </a:r>
            <a:endParaRPr sz="3220" u="sng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4" name="Google Shape;104;p20"/>
          <p:cNvSpPr txBox="1"/>
          <p:nvPr>
            <p:ph idx="1" type="body"/>
          </p:nvPr>
        </p:nvSpPr>
        <p:spPr>
          <a:xfrm>
            <a:off x="311700" y="952775"/>
            <a:ext cx="8520600" cy="398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rPr>
              <a:t>A UART interface such as PUTTY</a:t>
            </a:r>
            <a:endParaRPr sz="2000">
              <a:solidFill>
                <a:schemeClr val="lt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rPr>
              <a:t>shows periodic summaries of elapsed</a:t>
            </a:r>
            <a:endParaRPr sz="2000">
              <a:solidFill>
                <a:schemeClr val="lt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rPr>
              <a:t>time, focused time, and motion statistics.</a:t>
            </a:r>
            <a:endParaRPr sz="2000">
              <a:solidFill>
                <a:schemeClr val="lt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  <p:pic>
        <p:nvPicPr>
          <p:cNvPr id="105" name="Google Shape;10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4025" y="2490850"/>
            <a:ext cx="4201325" cy="244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26900" y="395050"/>
            <a:ext cx="3305400" cy="3253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/>
          <p:nvPr>
            <p:ph type="title"/>
          </p:nvPr>
        </p:nvSpPr>
        <p:spPr>
          <a:xfrm>
            <a:off x="311700" y="224650"/>
            <a:ext cx="8520600" cy="7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 u="sng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Implementation Steps:</a:t>
            </a:r>
            <a:endParaRPr sz="3220" u="sng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2" name="Google Shape;112;p21"/>
          <p:cNvSpPr txBox="1"/>
          <p:nvPr>
            <p:ph idx="1" type="body"/>
          </p:nvPr>
        </p:nvSpPr>
        <p:spPr>
          <a:xfrm>
            <a:off x="311700" y="1017850"/>
            <a:ext cx="8520600" cy="391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Georgia"/>
              <a:buAutoNum type="arabicPeriod"/>
            </a:pPr>
            <a:r>
              <a:rPr lang="en" sz="2000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rPr>
              <a:t>Verify the sensor interface works </a:t>
            </a:r>
            <a:r>
              <a:rPr lang="en" sz="2000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rPr>
              <a:t>properly</a:t>
            </a:r>
            <a:r>
              <a:rPr lang="en" sz="2000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rPr>
              <a:t>.</a:t>
            </a:r>
            <a:endParaRPr sz="2000">
              <a:solidFill>
                <a:schemeClr val="lt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556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Georgia"/>
              <a:buAutoNum type="arabicPeriod"/>
            </a:pPr>
            <a:r>
              <a:rPr lang="en" sz="2000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rPr>
              <a:t>Build the following required Verilog modules: a motion filter, focus timer, and an sseg display.</a:t>
            </a:r>
            <a:endParaRPr sz="2000">
              <a:solidFill>
                <a:schemeClr val="lt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556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Georgia"/>
              <a:buAutoNum type="arabicPeriod"/>
            </a:pPr>
            <a:r>
              <a:rPr lang="en" sz="2000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rPr>
              <a:t>Implement and synthesize the                                                                              Verilog modules in Vivado and Vitis.</a:t>
            </a:r>
            <a:endParaRPr sz="2000">
              <a:solidFill>
                <a:schemeClr val="lt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556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Georgia"/>
              <a:buAutoNum type="arabicPeriod"/>
            </a:pPr>
            <a:r>
              <a:rPr lang="en" sz="2000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rPr>
              <a:t>Connect a UART interface such as                                                             PUTTY to the project.</a:t>
            </a:r>
            <a:endParaRPr sz="2000">
              <a:solidFill>
                <a:schemeClr val="lt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556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Georgia"/>
              <a:buAutoNum type="arabicPeriod"/>
            </a:pPr>
            <a:r>
              <a:rPr lang="en" sz="2000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rPr>
              <a:t>Integrate and test the project.</a:t>
            </a:r>
            <a:endParaRPr sz="2000">
              <a:solidFill>
                <a:schemeClr val="lt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  <p:pic>
        <p:nvPicPr>
          <p:cNvPr id="113" name="Google Shape;11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20950" y="1990775"/>
            <a:ext cx="3923050" cy="3152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/>
          <p:nvPr>
            <p:ph type="title"/>
          </p:nvPr>
        </p:nvSpPr>
        <p:spPr>
          <a:xfrm>
            <a:off x="311700" y="224650"/>
            <a:ext cx="8520600" cy="7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 u="sng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Expected Outputs</a:t>
            </a:r>
            <a:r>
              <a:rPr lang="en" sz="3220" u="sng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:</a:t>
            </a:r>
            <a:endParaRPr sz="3220" u="sng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9" name="Google Shape;119;p22"/>
          <p:cNvSpPr txBox="1"/>
          <p:nvPr>
            <p:ph idx="1" type="body"/>
          </p:nvPr>
        </p:nvSpPr>
        <p:spPr>
          <a:xfrm>
            <a:off x="311700" y="937300"/>
            <a:ext cx="8520600" cy="39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rPr>
              <a:t>The Nexys4 DDR™ FPGA Board shows focused time.</a:t>
            </a:r>
            <a:endParaRPr sz="2000">
              <a:solidFill>
                <a:schemeClr val="lt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rPr>
              <a:t>A UART interface such as PUTTY prints time summaries every few seconds.</a:t>
            </a:r>
            <a:endParaRPr sz="2000">
              <a:solidFill>
                <a:schemeClr val="lt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  <p:pic>
        <p:nvPicPr>
          <p:cNvPr id="120" name="Google Shape;120;p22"/>
          <p:cNvPicPr preferRelativeResize="0"/>
          <p:nvPr/>
        </p:nvPicPr>
        <p:blipFill rotWithShape="1">
          <a:blip r:embed="rId3">
            <a:alphaModFix/>
          </a:blip>
          <a:srcRect b="6462" l="0" r="0" t="2768"/>
          <a:stretch/>
        </p:blipFill>
        <p:spPr>
          <a:xfrm>
            <a:off x="311700" y="2279700"/>
            <a:ext cx="3480166" cy="2654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68214" y="2279700"/>
            <a:ext cx="4564086" cy="265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3"/>
          <p:cNvSpPr txBox="1"/>
          <p:nvPr>
            <p:ph type="title"/>
          </p:nvPr>
        </p:nvSpPr>
        <p:spPr>
          <a:xfrm>
            <a:off x="311700" y="224650"/>
            <a:ext cx="8520600" cy="7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 u="sng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What I actually got…</a:t>
            </a:r>
            <a:endParaRPr sz="3220" u="sng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7" name="Google Shape;127;p23"/>
          <p:cNvSpPr txBox="1"/>
          <p:nvPr>
            <p:ph idx="1" type="body"/>
          </p:nvPr>
        </p:nvSpPr>
        <p:spPr>
          <a:xfrm>
            <a:off x="311700" y="1017850"/>
            <a:ext cx="8520600" cy="391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rPr>
              <a:t>The Nexys4 DDR™ FPGA Board Seven-Segment output would only display the following and not UART output was ever produced.</a:t>
            </a:r>
            <a:endParaRPr sz="2000">
              <a:solidFill>
                <a:schemeClr val="lt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  <p:pic>
        <p:nvPicPr>
          <p:cNvPr id="128" name="Google Shape;128;p23"/>
          <p:cNvPicPr preferRelativeResize="0"/>
          <p:nvPr/>
        </p:nvPicPr>
        <p:blipFill rotWithShape="1">
          <a:blip r:embed="rId3">
            <a:alphaModFix/>
          </a:blip>
          <a:srcRect b="6462" l="0" r="0" t="2768"/>
          <a:stretch/>
        </p:blipFill>
        <p:spPr>
          <a:xfrm>
            <a:off x="311700" y="1974425"/>
            <a:ext cx="3951636" cy="3014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3"/>
          <p:cNvPicPr preferRelativeResize="0"/>
          <p:nvPr/>
        </p:nvPicPr>
        <p:blipFill rotWithShape="1">
          <a:blip r:embed="rId4">
            <a:alphaModFix/>
          </a:blip>
          <a:srcRect b="0" l="6169" r="31637" t="0"/>
          <a:stretch/>
        </p:blipFill>
        <p:spPr>
          <a:xfrm>
            <a:off x="5083125" y="1974425"/>
            <a:ext cx="3749174" cy="301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4"/>
          <p:cNvSpPr txBox="1"/>
          <p:nvPr>
            <p:ph type="title"/>
          </p:nvPr>
        </p:nvSpPr>
        <p:spPr>
          <a:xfrm>
            <a:off x="311700" y="108455"/>
            <a:ext cx="8520600" cy="7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 u="sng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Conclusion:</a:t>
            </a:r>
            <a:endParaRPr sz="3220" u="sng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5" name="Google Shape;135;p24"/>
          <p:cNvSpPr txBox="1"/>
          <p:nvPr>
            <p:ph idx="1" type="body"/>
          </p:nvPr>
        </p:nvSpPr>
        <p:spPr>
          <a:xfrm>
            <a:off x="311700" y="751378"/>
            <a:ext cx="8520600" cy="407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rPr>
              <a:t>I built a compact, realistic FPGA System.</a:t>
            </a:r>
            <a:endParaRPr sz="2000">
              <a:solidFill>
                <a:schemeClr val="lt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rPr>
              <a:t>In my </a:t>
            </a:r>
            <a:r>
              <a:rPr lang="en" sz="2000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rPr>
              <a:t>opinion</a:t>
            </a:r>
            <a:r>
              <a:rPr lang="en" sz="2000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rPr>
              <a:t>, DDR4 Boards are not the best for UART simulation. I literally built a temperature sensor in Embedded Systems that properly displayed to a UART (PUTTY terminal).</a:t>
            </a:r>
            <a:endParaRPr sz="2000">
              <a:solidFill>
                <a:schemeClr val="lt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rPr>
              <a:t>Atmel Studio Boards such as the Atmel SAM4L8 Board are better equipped for temperature sensing and UART simulation.</a:t>
            </a:r>
            <a:endParaRPr sz="2000">
              <a:solidFill>
                <a:schemeClr val="lt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  <p:pic>
        <p:nvPicPr>
          <p:cNvPr id="136" name="Google Shape;136;p24" title="IMG_5692.mo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85325" y="3021025"/>
            <a:ext cx="2829976" cy="2122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81250" y="3021025"/>
            <a:ext cx="2912682" cy="2122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5"/>
          <p:cNvSpPr txBox="1"/>
          <p:nvPr>
            <p:ph type="title"/>
          </p:nvPr>
        </p:nvSpPr>
        <p:spPr>
          <a:xfrm>
            <a:off x="311700" y="209150"/>
            <a:ext cx="8520600" cy="7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620" u="sng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Sources:</a:t>
            </a:r>
            <a:endParaRPr sz="3620" u="sng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43" name="Google Shape;143;p25"/>
          <p:cNvSpPr txBox="1"/>
          <p:nvPr>
            <p:ph idx="1" type="body"/>
          </p:nvPr>
        </p:nvSpPr>
        <p:spPr>
          <a:xfrm>
            <a:off x="311700" y="1099975"/>
            <a:ext cx="8520600" cy="38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rPr>
              <a:t>“Digilent – Start Smart, Build Brilliant.” Digilent.com, </a:t>
            </a:r>
            <a:r>
              <a:rPr lang="en" sz="2400" u="sng">
                <a:solidFill>
                  <a:schemeClr val="hlink"/>
                </a:solidFill>
                <a:latin typeface="Georgia"/>
                <a:ea typeface="Georgia"/>
                <a:cs typeface="Georgia"/>
                <a:sym typeface="Georgia"/>
                <a:hlinkClick r:id="rId3"/>
              </a:rPr>
              <a:t>digilent.com/</a:t>
            </a:r>
            <a:endParaRPr sz="2400">
              <a:solidFill>
                <a:schemeClr val="lt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rPr>
              <a:t>“Atmel Products.” Microchip.com, 2025, </a:t>
            </a:r>
            <a:r>
              <a:rPr lang="en" sz="2400" u="sng">
                <a:solidFill>
                  <a:schemeClr val="hlink"/>
                </a:solidFill>
                <a:latin typeface="Georgia"/>
                <a:ea typeface="Georgia"/>
                <a:cs typeface="Georgia"/>
                <a:sym typeface="Georgia"/>
                <a:hlinkClick r:id="rId4"/>
              </a:rPr>
              <a:t>www.microchip.com/en-us/about/corporate-overview/acquisitions/atmel</a:t>
            </a:r>
            <a:r>
              <a:rPr lang="en" sz="2400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rPr>
              <a:t>.</a:t>
            </a:r>
            <a:endParaRPr sz="2400">
              <a:solidFill>
                <a:schemeClr val="lt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400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rPr>
              <a:t>Google. “Google Images.” Google.com, Google, images.google.com/.</a:t>
            </a:r>
            <a:endParaRPr sz="2400">
              <a:solidFill>
                <a:schemeClr val="lt2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